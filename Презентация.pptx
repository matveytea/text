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9"/>
  </p:notesMasterIdLst>
  <p:sldIdLst>
    <p:sldId id="257" r:id="rId2"/>
    <p:sldId id="258" r:id="rId3"/>
    <p:sldId id="268" r:id="rId4"/>
    <p:sldId id="269" r:id="rId5"/>
    <p:sldId id="270" r:id="rId6"/>
    <p:sldId id="271" r:id="rId7"/>
    <p:sldId id="275" r:id="rId8"/>
    <p:sldId id="276" r:id="rId9"/>
    <p:sldId id="277" r:id="rId10"/>
    <p:sldId id="279" r:id="rId11"/>
    <p:sldId id="280" r:id="rId12"/>
    <p:sldId id="281" r:id="rId13"/>
    <p:sldId id="283" r:id="rId14"/>
    <p:sldId id="282" r:id="rId15"/>
    <p:sldId id="273" r:id="rId16"/>
    <p:sldId id="274" r:id="rId17"/>
    <p:sldId id="265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59C5D3-A778-46E5-A401-4CF372F1356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948A48-3857-40AB-8EB2-AF4BB19B748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51957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Times New Roman" panose="02020603050405020304" pitchFamily="18" charset="0"/>
            </a:endParaRPr>
          </a:p>
        </p:txBody>
      </p:sp>
      <p:sp>
        <p:nvSpPr>
          <p:cNvPr id="145" name="Google Shape;14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8176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0113149"/>
      </p:ext>
    </p:extLst>
  </p:cSld>
  <p:clrMapOvr>
    <a:masterClrMapping/>
  </p:clrMapOvr>
  <p:transition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352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232587"/>
      </p:ext>
    </p:extLst>
  </p:cSld>
  <p:clrMapOvr>
    <a:masterClrMapping/>
  </p:clrMapOvr>
  <p:transition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7622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0863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5470492"/>
      </p:ext>
    </p:extLst>
  </p:cSld>
  <p:clrMapOvr>
    <a:masterClrMapping/>
  </p:clrMapOvr>
  <p:transition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3146222"/>
      </p:ext>
    </p:extLst>
  </p:cSld>
  <p:clrMapOvr>
    <a:masterClrMapping/>
  </p:clrMapOvr>
  <p:transition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3552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6563663"/>
      </p:ext>
    </p:extLst>
  </p:cSld>
  <p:clrMapOvr>
    <a:masterClrMapping/>
  </p:clrMapOvr>
  <p:transition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251793"/>
      </p:ext>
    </p:extLst>
  </p:cSld>
  <p:clrMapOvr>
    <a:masterClrMapping/>
  </p:clrMapOvr>
  <p:transition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9547246"/>
      </p:ext>
    </p:extLst>
  </p:cSld>
  <p:clrMapOvr>
    <a:masterClrMapping/>
  </p:clrMapOvr>
  <p:transition>
    <p:cover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56330602"/>
      </p:ext>
    </p:extLst>
  </p:cSld>
  <p:clrMapOvr>
    <a:masterClrMapping/>
  </p:clrMapOvr>
  <p:transition>
    <p:cover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2372547"/>
      </p:ext>
    </p:extLst>
  </p:cSld>
  <p:clrMapOvr>
    <a:masterClrMapping/>
  </p:clrMapOvr>
  <p:transition>
    <p:cover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2906366"/>
      </p:ext>
    </p:extLst>
  </p:cSld>
  <p:clrMapOvr>
    <a:masterClrMapping/>
  </p:clrMapOvr>
  <p:transition>
    <p:cover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0175039"/>
      </p:ext>
    </p:extLst>
  </p:cSld>
  <p:clrMapOvr>
    <a:masterClrMapping/>
  </p:clrMapOvr>
  <p:transition>
    <p:cover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2271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19659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88508"/>
      </p:ext>
    </p:extLst>
  </p:cSld>
  <p:clrMapOvr>
    <a:masterClrMapping/>
  </p:clrMapOvr>
  <p:transition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F60A7F0-D342-4A54-9125-FF639292C250}" type="datetimeFigureOut">
              <a:rPr lang="ru-RU" smtClean="0"/>
              <a:t>09.06.2026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A6766F5B-2CF6-4759-80E4-146E416DAB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151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  <p:sldLayoutId id="2147483696" r:id="rId18"/>
  </p:sldLayoutIdLst>
  <p:transition>
    <p:cover/>
  </p:transition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"/>
          <p:cNvSpPr txBox="1">
            <a:spLocks noGrp="1"/>
          </p:cNvSpPr>
          <p:nvPr>
            <p:ph type="ctrTitle"/>
          </p:nvPr>
        </p:nvSpPr>
        <p:spPr>
          <a:xfrm>
            <a:off x="845128" y="346364"/>
            <a:ext cx="10612582" cy="6151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100000"/>
              <a:buFont typeface="Times New Roman"/>
              <a:buNone/>
            </a:pPr>
            <a:br>
              <a:rPr lang="ru-RU" sz="27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27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27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27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27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27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27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27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27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Министерство образования Калининградской области государственное автономное учреждение Калининградской области профессиональная образовательная организация «Колледж предпринимательства»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Тема: Разработка интернет-магазина товаров для дома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Выполнил: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обучающийся группы ИСП 22-22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специальность 09.02.07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Информационные системы и    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программирования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 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_________________ Хурсин М.А.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 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Руководитель:</a:t>
            </a:r>
            <a:b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7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_________________ Зверев М.В.</a:t>
            </a:r>
            <a:br>
              <a:rPr lang="ru-RU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ru-RU" sz="2400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 </a:t>
            </a:r>
            <a:endParaRPr dirty="0"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258142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38D3D380-6995-8F2F-7B93-EA3DF54BED05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>
              <a:lnSpc>
                <a:spcPct val="104000"/>
              </a:lnSpc>
            </a:pPr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Цель</a:t>
            </a:r>
            <a:r>
              <a:rPr lang="en-US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 и актуальность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A2BDBD25-87EA-D322-11C3-BC3FB8CFC6D3}"/>
              </a:ext>
            </a:extLst>
          </p:cNvPr>
          <p:cNvGrpSpPr/>
          <p:nvPr/>
        </p:nvGrpSpPr>
        <p:grpSpPr>
          <a:xfrm>
            <a:off x="1172004" y="2360231"/>
            <a:ext cx="4115294" cy="2137537"/>
            <a:chOff x="908994" y="1800000"/>
            <a:chExt cx="4115290" cy="2137537"/>
          </a:xfrm>
        </p:grpSpPr>
        <p:sp>
          <p:nvSpPr>
            <p:cNvPr id="10" name="Text 2">
              <a:extLst>
                <a:ext uri="{FF2B5EF4-FFF2-40B4-BE49-F238E27FC236}">
                  <a16:creationId xmlns:a16="http://schemas.microsoft.com/office/drawing/2014/main" id="{7660F2E5-6563-DDFE-5030-8248E7FD0E64}"/>
                </a:ext>
              </a:extLst>
            </p:cNvPr>
            <p:cNvSpPr/>
            <p:nvPr/>
          </p:nvSpPr>
          <p:spPr>
            <a:xfrm>
              <a:off x="908994" y="1800000"/>
              <a:ext cx="3330124" cy="50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defTabSz="914400">
                <a:lnSpc>
                  <a:spcPct val="104000"/>
                </a:lnSpc>
              </a:pPr>
              <a:r>
                <a:rPr lang="en-US" sz="2800" dirty="0">
                  <a:latin typeface="Times New Roman" panose="02020603050405020304" pitchFamily="18" charset="0"/>
                  <a:ea typeface="Instrument Sans SemiBold" pitchFamily="34" charset="-122"/>
                  <a:cs typeface="Times New Roman" panose="02020603050405020304" pitchFamily="18" charset="0"/>
                </a:rPr>
                <a:t>Цель проекта</a:t>
              </a:r>
              <a:endParaRPr lang="en-US" sz="2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Text 3">
              <a:extLst>
                <a:ext uri="{FF2B5EF4-FFF2-40B4-BE49-F238E27FC236}">
                  <a16:creationId xmlns:a16="http://schemas.microsoft.com/office/drawing/2014/main" id="{A1717FB9-6E07-798A-EC88-E72645AF88BF}"/>
                </a:ext>
              </a:extLst>
            </p:cNvPr>
            <p:cNvSpPr/>
            <p:nvPr/>
          </p:nvSpPr>
          <p:spPr>
            <a:xfrm>
              <a:off x="908994" y="2576653"/>
              <a:ext cx="4115290" cy="13608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algn="just" defTabSz="914400">
                <a:lnSpc>
                  <a:spcPct val="150000"/>
                </a:lnSpc>
              </a:pPr>
              <a:r>
                <a:rPr lang="en-US" sz="2000" dirty="0">
                  <a:latin typeface="Times New Roman" panose="02020603050405020304" pitchFamily="18" charset="0"/>
                  <a:ea typeface="Instrument Sans Medium" pitchFamily="34" charset="-122"/>
                  <a:cs typeface="Times New Roman" panose="02020603050405020304" pitchFamily="18" charset="0"/>
                </a:rPr>
                <a:t>Создать надёжный интернет‑магазин с набором базовых и расширенных функций</a:t>
              </a:r>
              <a:endParaRPr 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92A2000F-ADC1-9C51-53D0-A158FB37A847}"/>
              </a:ext>
            </a:extLst>
          </p:cNvPr>
          <p:cNvGrpSpPr/>
          <p:nvPr/>
        </p:nvGrpSpPr>
        <p:grpSpPr>
          <a:xfrm>
            <a:off x="6459302" y="2392663"/>
            <a:ext cx="4560693" cy="2072674"/>
            <a:chOff x="6655721" y="1800000"/>
            <a:chExt cx="4115290" cy="2072674"/>
          </a:xfrm>
        </p:grpSpPr>
        <p:sp>
          <p:nvSpPr>
            <p:cNvPr id="13" name="Text 5">
              <a:extLst>
                <a:ext uri="{FF2B5EF4-FFF2-40B4-BE49-F238E27FC236}">
                  <a16:creationId xmlns:a16="http://schemas.microsoft.com/office/drawing/2014/main" id="{567C7093-53BF-90E4-BCC0-CAB0A26E75F6}"/>
                </a:ext>
              </a:extLst>
            </p:cNvPr>
            <p:cNvSpPr/>
            <p:nvPr/>
          </p:nvSpPr>
          <p:spPr>
            <a:xfrm>
              <a:off x="6655721" y="1800000"/>
              <a:ext cx="3330124" cy="50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defTabSz="914400">
                <a:lnSpc>
                  <a:spcPct val="104000"/>
                </a:lnSpc>
              </a:pPr>
              <a:r>
                <a:rPr lang="en-US" sz="2800" dirty="0">
                  <a:latin typeface="Times New Roman" panose="02020603050405020304" pitchFamily="18" charset="0"/>
                  <a:ea typeface="Instrument Sans SemiBold" pitchFamily="34" charset="-122"/>
                  <a:cs typeface="Times New Roman" panose="02020603050405020304" pitchFamily="18" charset="0"/>
                </a:rPr>
                <a:t>Актуальность</a:t>
              </a:r>
              <a:endParaRPr lang="en-US" sz="2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Text 6">
              <a:extLst>
                <a:ext uri="{FF2B5EF4-FFF2-40B4-BE49-F238E27FC236}">
                  <a16:creationId xmlns:a16="http://schemas.microsoft.com/office/drawing/2014/main" id="{807501E2-5B13-89F5-3ED4-BE3C16F448CC}"/>
                </a:ext>
              </a:extLst>
            </p:cNvPr>
            <p:cNvSpPr/>
            <p:nvPr/>
          </p:nvSpPr>
          <p:spPr>
            <a:xfrm>
              <a:off x="6655721" y="2511790"/>
              <a:ext cx="4115290" cy="136088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36900" indent="0" algn="just">
                <a:lnSpc>
                  <a:spcPct val="150000"/>
                </a:lnSpc>
                <a:buNone/>
              </a:pPr>
              <a:r>
                <a: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Рост онлайн‑торговли и переход малого бизнеса в цифровую среду требуют доступных и безопасных решений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8419877"/>
      </p:ext>
    </p:extLst>
  </p:cSld>
  <p:clrMapOvr>
    <a:masterClrMapping/>
  </p:clrMapOvr>
  <p:transition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89DB-89F1-FBC8-F7C9-01766F3B4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A8DB5F86-92FE-07F1-632E-63A777526482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>
              <a:lnSpc>
                <a:spcPct val="104000"/>
              </a:lnSpc>
            </a:pPr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Выбор технологий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4F1CCCA2-E984-CA79-143A-73CC8C1C1FA2}"/>
              </a:ext>
            </a:extLst>
          </p:cNvPr>
          <p:cNvGrpSpPr/>
          <p:nvPr/>
        </p:nvGrpSpPr>
        <p:grpSpPr>
          <a:xfrm>
            <a:off x="1080000" y="2160000"/>
            <a:ext cx="4560692" cy="1086734"/>
            <a:chOff x="908994" y="1800000"/>
            <a:chExt cx="4115290" cy="1204376"/>
          </a:xfrm>
        </p:grpSpPr>
        <p:sp>
          <p:nvSpPr>
            <p:cNvPr id="10" name="Text 2">
              <a:extLst>
                <a:ext uri="{FF2B5EF4-FFF2-40B4-BE49-F238E27FC236}">
                  <a16:creationId xmlns:a16="http://schemas.microsoft.com/office/drawing/2014/main" id="{66651FEB-3867-FE28-7777-19D7DFD1EEBF}"/>
                </a:ext>
              </a:extLst>
            </p:cNvPr>
            <p:cNvSpPr/>
            <p:nvPr/>
          </p:nvSpPr>
          <p:spPr>
            <a:xfrm>
              <a:off x="908994" y="1800000"/>
              <a:ext cx="3330124" cy="50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defTabSz="914400">
                <a:lnSpc>
                  <a:spcPct val="104000"/>
                </a:lnSpc>
              </a:pPr>
              <a:r>
                <a:rPr lang="ru-RU" sz="2800" dirty="0">
                  <a:latin typeface="Times New Roman" panose="02020603050405020304" pitchFamily="18" charset="0"/>
                  <a:ea typeface="Instrument Sans SemiBold" pitchFamily="34" charset="-122"/>
                  <a:cs typeface="Times New Roman" panose="02020603050405020304" pitchFamily="18" charset="0"/>
                </a:rPr>
                <a:t>Фронтенд</a:t>
              </a:r>
            </a:p>
            <a:p>
              <a:pPr defTabSz="914400">
                <a:lnSpc>
                  <a:spcPct val="104000"/>
                </a:lnSpc>
              </a:pPr>
              <a:endParaRPr lang="en-US" sz="2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Text 3">
              <a:extLst>
                <a:ext uri="{FF2B5EF4-FFF2-40B4-BE49-F238E27FC236}">
                  <a16:creationId xmlns:a16="http://schemas.microsoft.com/office/drawing/2014/main" id="{7615CB1F-265F-E47D-D255-597D71D0F83E}"/>
                </a:ext>
              </a:extLst>
            </p:cNvPr>
            <p:cNvSpPr/>
            <p:nvPr/>
          </p:nvSpPr>
          <p:spPr>
            <a:xfrm>
              <a:off x="908994" y="2446926"/>
              <a:ext cx="4115290" cy="5574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algn="just" defTabSz="914400">
                <a:lnSpc>
                  <a:spcPct val="150000"/>
                </a:lnSpc>
              </a:pPr>
              <a:r>
                <a:rPr lang="en-US" sz="2000" dirty="0">
                  <a:latin typeface="Times New Roman" panose="02020603050405020304" pitchFamily="18" charset="0"/>
                  <a:ea typeface="Instrument Sans Medium" pitchFamily="34" charset="-122"/>
                  <a:cs typeface="Times New Roman" panose="02020603050405020304" pitchFamily="18" charset="0"/>
                </a:rPr>
                <a:t>HTML, CSS, JS </a:t>
              </a:r>
            </a:p>
            <a:p>
              <a:pPr algn="just" defTabSz="914400">
                <a:lnSpc>
                  <a:spcPct val="150000"/>
                </a:lnSpc>
              </a:pPr>
              <a:endParaRPr lang="en-US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6092A37E-31D6-1DF8-6DB5-36711980A3B6}"/>
              </a:ext>
            </a:extLst>
          </p:cNvPr>
          <p:cNvGrpSpPr/>
          <p:nvPr/>
        </p:nvGrpSpPr>
        <p:grpSpPr>
          <a:xfrm>
            <a:off x="6480000" y="2160000"/>
            <a:ext cx="4560693" cy="1086734"/>
            <a:chOff x="6655721" y="1800000"/>
            <a:chExt cx="4115290" cy="1214788"/>
          </a:xfrm>
        </p:grpSpPr>
        <p:sp>
          <p:nvSpPr>
            <p:cNvPr id="13" name="Text 5">
              <a:extLst>
                <a:ext uri="{FF2B5EF4-FFF2-40B4-BE49-F238E27FC236}">
                  <a16:creationId xmlns:a16="http://schemas.microsoft.com/office/drawing/2014/main" id="{BB81A497-4E95-DB0F-69B8-2962EC22CC43}"/>
                </a:ext>
              </a:extLst>
            </p:cNvPr>
            <p:cNvSpPr/>
            <p:nvPr/>
          </p:nvSpPr>
          <p:spPr>
            <a:xfrm>
              <a:off x="6655721" y="1800000"/>
              <a:ext cx="3330124" cy="50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defTabSz="914400">
                <a:lnSpc>
                  <a:spcPct val="104000"/>
                </a:lnSpc>
              </a:pPr>
              <a:r>
                <a:rPr lang="ru-RU" sz="2800" dirty="0">
                  <a:latin typeface="Times New Roman" panose="02020603050405020304" pitchFamily="18" charset="0"/>
                  <a:ea typeface="Instrument Sans SemiBold" pitchFamily="34" charset="-122"/>
                  <a:cs typeface="Times New Roman" panose="02020603050405020304" pitchFamily="18" charset="0"/>
                </a:rPr>
                <a:t>Бэкенд</a:t>
              </a:r>
              <a:endParaRPr lang="en-US" sz="2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Text 6">
              <a:extLst>
                <a:ext uri="{FF2B5EF4-FFF2-40B4-BE49-F238E27FC236}">
                  <a16:creationId xmlns:a16="http://schemas.microsoft.com/office/drawing/2014/main" id="{63DDDCD2-57B1-C11D-74F7-D43DD0023D98}"/>
                </a:ext>
              </a:extLst>
            </p:cNvPr>
            <p:cNvSpPr/>
            <p:nvPr/>
          </p:nvSpPr>
          <p:spPr>
            <a:xfrm>
              <a:off x="6655721" y="2511790"/>
              <a:ext cx="4115290" cy="502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36900" indent="0" algn="just">
                <a:lnSpc>
                  <a:spcPct val="150000"/>
                </a:lnSpc>
                <a:buNone/>
              </a:pPr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PHP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216D064B-5ADF-74B7-2565-AD08770C1E37}"/>
              </a:ext>
            </a:extLst>
          </p:cNvPr>
          <p:cNvGrpSpPr/>
          <p:nvPr/>
        </p:nvGrpSpPr>
        <p:grpSpPr>
          <a:xfrm>
            <a:off x="1080000" y="4320000"/>
            <a:ext cx="4560693" cy="913768"/>
            <a:chOff x="6655721" y="1800000"/>
            <a:chExt cx="4115290" cy="1214788"/>
          </a:xfrm>
        </p:grpSpPr>
        <p:sp>
          <p:nvSpPr>
            <p:cNvPr id="12" name="Text 5">
              <a:extLst>
                <a:ext uri="{FF2B5EF4-FFF2-40B4-BE49-F238E27FC236}">
                  <a16:creationId xmlns:a16="http://schemas.microsoft.com/office/drawing/2014/main" id="{2DFAEC10-EE59-7970-25A5-BE34EACBA6BF}"/>
                </a:ext>
              </a:extLst>
            </p:cNvPr>
            <p:cNvSpPr/>
            <p:nvPr/>
          </p:nvSpPr>
          <p:spPr>
            <a:xfrm>
              <a:off x="6655721" y="1800000"/>
              <a:ext cx="3330124" cy="50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defTabSz="914400">
                <a:lnSpc>
                  <a:spcPct val="104000"/>
                </a:lnSpc>
              </a:pPr>
              <a:r>
                <a:rPr lang="ru-RU" sz="2800" dirty="0">
                  <a:latin typeface="Times New Roman" panose="02020603050405020304" pitchFamily="18" charset="0"/>
                  <a:ea typeface="Instrument Sans SemiBold" pitchFamily="34" charset="-122"/>
                  <a:cs typeface="Times New Roman" panose="02020603050405020304" pitchFamily="18" charset="0"/>
                </a:rPr>
                <a:t>База данных</a:t>
              </a:r>
              <a:endParaRPr lang="en-US" sz="2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" name="Text 6">
              <a:extLst>
                <a:ext uri="{FF2B5EF4-FFF2-40B4-BE49-F238E27FC236}">
                  <a16:creationId xmlns:a16="http://schemas.microsoft.com/office/drawing/2014/main" id="{43BA796D-16FC-6AC3-7F20-4B6F44E46D90}"/>
                </a:ext>
              </a:extLst>
            </p:cNvPr>
            <p:cNvSpPr/>
            <p:nvPr/>
          </p:nvSpPr>
          <p:spPr>
            <a:xfrm>
              <a:off x="6655721" y="2511790"/>
              <a:ext cx="4115290" cy="502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36900" indent="0" algn="just">
                <a:lnSpc>
                  <a:spcPct val="150000"/>
                </a:lnSpc>
                <a:buNone/>
              </a:pPr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MySQL, SQL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09BA597E-235A-3ECB-B157-985A74A8B25E}"/>
              </a:ext>
            </a:extLst>
          </p:cNvPr>
          <p:cNvGrpSpPr/>
          <p:nvPr/>
        </p:nvGrpSpPr>
        <p:grpSpPr>
          <a:xfrm>
            <a:off x="6480000" y="4320000"/>
            <a:ext cx="4560693" cy="913768"/>
            <a:chOff x="6655721" y="1800000"/>
            <a:chExt cx="4115290" cy="1214788"/>
          </a:xfrm>
        </p:grpSpPr>
        <p:sp>
          <p:nvSpPr>
            <p:cNvPr id="17" name="Text 5">
              <a:extLst>
                <a:ext uri="{FF2B5EF4-FFF2-40B4-BE49-F238E27FC236}">
                  <a16:creationId xmlns:a16="http://schemas.microsoft.com/office/drawing/2014/main" id="{124D1A06-6FA5-7C97-06CF-01D8811C70A5}"/>
                </a:ext>
              </a:extLst>
            </p:cNvPr>
            <p:cNvSpPr/>
            <p:nvPr/>
          </p:nvSpPr>
          <p:spPr>
            <a:xfrm>
              <a:off x="6655721" y="1800000"/>
              <a:ext cx="3330124" cy="502998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defTabSz="914400">
                <a:lnSpc>
                  <a:spcPct val="104000"/>
                </a:lnSpc>
              </a:pPr>
              <a:r>
                <a:rPr lang="ru-RU" sz="2800" dirty="0">
                  <a:latin typeface="Times New Roman" panose="02020603050405020304" pitchFamily="18" charset="0"/>
                  <a:ea typeface="Instrument Sans SemiBold" pitchFamily="34" charset="-122"/>
                  <a:cs typeface="Times New Roman" panose="02020603050405020304" pitchFamily="18" charset="0"/>
                </a:rPr>
                <a:t>Инструменты</a:t>
              </a:r>
              <a:endParaRPr lang="en-US" sz="28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Text 6">
              <a:extLst>
                <a:ext uri="{FF2B5EF4-FFF2-40B4-BE49-F238E27FC236}">
                  <a16:creationId xmlns:a16="http://schemas.microsoft.com/office/drawing/2014/main" id="{98A02161-0F28-BD9E-732E-A1D353747B37}"/>
                </a:ext>
              </a:extLst>
            </p:cNvPr>
            <p:cNvSpPr/>
            <p:nvPr/>
          </p:nvSpPr>
          <p:spPr>
            <a:xfrm>
              <a:off x="6655721" y="2511790"/>
              <a:ext cx="4115290" cy="5029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36900" indent="0" algn="just">
                <a:lnSpc>
                  <a:spcPct val="150000"/>
                </a:lnSpc>
                <a:buNone/>
              </a:pPr>
              <a:r>
                <a:rPr lang="en-US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Git, Open Server Panel, VS code </a:t>
              </a:r>
              <a:endParaRPr lang="ru-RU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73310730"/>
      </p:ext>
    </p:extLst>
  </p:cSld>
  <p:clrMapOvr>
    <a:masterClrMapping/>
  </p:clrMapOvr>
  <p:transition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75DD-8442-F442-BEFF-090614FE6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44B2A845-233B-4342-365D-F83A562B8C0D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>
              <a:lnSpc>
                <a:spcPct val="104000"/>
              </a:lnSpc>
            </a:pPr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Безопасность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269B98-3CDC-55EA-F720-03FD521FFFBD}"/>
              </a:ext>
            </a:extLst>
          </p:cNvPr>
          <p:cNvSpPr txBox="1"/>
          <p:nvPr/>
        </p:nvSpPr>
        <p:spPr>
          <a:xfrm>
            <a:off x="914400" y="2164006"/>
            <a:ext cx="10628671" cy="2529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меры: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шифрование чувствительных полей в БД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защита API, валидация данных, защита от CSRF и XSS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refresh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tokens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Role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-Based Access Control для админ-панели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ограничение доступа по принципу наименьших привилегий.</a:t>
            </a:r>
          </a:p>
        </p:txBody>
      </p:sp>
    </p:spTree>
    <p:extLst>
      <p:ext uri="{BB962C8B-B14F-4D97-AF65-F5344CB8AC3E}">
        <p14:creationId xmlns:p14="http://schemas.microsoft.com/office/powerpoint/2010/main" val="518719292"/>
      </p:ext>
    </p:extLst>
  </p:cSld>
  <p:clrMapOvr>
    <a:masterClrMapping/>
  </p:clrMapOvr>
  <p:transition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8716F-BE1C-169D-4469-345D7AEF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242A9B4C-B980-4E83-A87E-E057C3A8738F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>
              <a:lnSpc>
                <a:spcPct val="104000"/>
              </a:lnSpc>
            </a:pPr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Функциональные требования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A998B6-79CB-649B-0522-65592E193514}"/>
              </a:ext>
            </a:extLst>
          </p:cNvPr>
          <p:cNvSpPr txBox="1"/>
          <p:nvPr/>
        </p:nvSpPr>
        <p:spPr>
          <a:xfrm>
            <a:off x="914400" y="2164006"/>
            <a:ext cx="10628671" cy="2991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Клиентские требования: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каталог товаров: категории, фильтры, поиск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карточка товара: изображения, характеристики, отзывы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корзина и оформление заказа: расчёт доставки и налогов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пользовательские сценарии: регистрация, профиль, история заказов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административная панель: управление каталогом и пользователями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672908"/>
      </p:ext>
    </p:extLst>
  </p:cSld>
  <p:clrMapOvr>
    <a:masterClrMapping/>
  </p:clrMapOvr>
  <p:transition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E59997-CDC8-07B6-9FC8-2557C92B3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8ADF9DB3-0A60-6B1B-4430-01AA8FEAAD2A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/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Функциональные требования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A5312B-8DEC-953A-366C-9CCC0D8EBC72}"/>
              </a:ext>
            </a:extLst>
          </p:cNvPr>
          <p:cNvSpPr txBox="1"/>
          <p:nvPr/>
        </p:nvSpPr>
        <p:spPr>
          <a:xfrm>
            <a:off x="914400" y="2164006"/>
            <a:ext cx="10628671" cy="2529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Серверные требования: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производительность: время отклика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&lt; 300 мс под типичной нагрузкой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масштабируемость: горизонтальное масштабирование сервисов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надёжность: резервное копирование, мониторинг, логирование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юзабилити: адаптивный дизайн, доступность.</a:t>
            </a:r>
          </a:p>
        </p:txBody>
      </p:sp>
    </p:spTree>
    <p:extLst>
      <p:ext uri="{BB962C8B-B14F-4D97-AF65-F5344CB8AC3E}">
        <p14:creationId xmlns:p14="http://schemas.microsoft.com/office/powerpoint/2010/main" val="2400646875"/>
      </p:ext>
    </p:extLst>
  </p:cSld>
  <p:clrMapOvr>
    <a:masterClrMapping/>
  </p:clrMapOvr>
  <p:transition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3A58F-4724-26F0-763A-9CEBCAF2F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9C24832D-9AAE-6766-39D6-678ACC1621DE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/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Интерфейс — главная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0C76DD0-5070-D4F8-A824-FE5CFAEA4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9890" y="1878209"/>
            <a:ext cx="8992221" cy="4604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831435"/>
      </p:ext>
    </p:extLst>
  </p:cSld>
  <p:clrMapOvr>
    <a:masterClrMapping/>
  </p:clrMapOvr>
  <p:transition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31FA2-C0DA-181D-00BE-DF9EF047C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EE8731FB-2686-2749-5428-8293734632FC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/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Интерфейс — каталог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B24D066-5A20-1CBC-7867-F6B1145F6D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989" y="2552800"/>
            <a:ext cx="9350022" cy="26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143164"/>
      </p:ext>
    </p:extLst>
  </p:cSld>
  <p:clrMapOvr>
    <a:masterClrMapping/>
  </p:clrMapOvr>
  <p:transition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53B06-3E15-7362-92AC-70B6BFDFC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540937F0-D156-10F3-4B8E-CE6E0DA9EA6B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/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Интерфейс — поиск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C4DDD3C-F690-447D-CE0E-057678F91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0722" y="1752441"/>
            <a:ext cx="7090556" cy="482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220328"/>
      </p:ext>
    </p:extLst>
  </p:cSld>
  <p:clrMapOvr>
    <a:masterClrMapping/>
  </p:clrMapOvr>
  <p:transition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70C10-4ACD-402D-E45B-2028A08F5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D55B3A20-2FF1-2DFC-8448-2C9B33D96E0B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/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Интерфейс — регистрация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0B96094-16C8-F755-CD48-043ADFEB08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664" y="2549424"/>
            <a:ext cx="11044673" cy="3091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9381427"/>
      </p:ext>
    </p:extLst>
  </p:cSld>
  <p:clrMapOvr>
    <a:masterClrMapping/>
  </p:clrMapOvr>
  <p:transition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1D67-FAC9-44E6-CED4-E2A1AF4D4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79702A0F-33E8-CD7A-DD7C-4CED6EBCD0BB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/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Интерфейс — вход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8AFD2C4-DA97-A2FC-9BBE-33BD956E6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648" y="2828734"/>
            <a:ext cx="10978705" cy="22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709639"/>
      </p:ext>
    </p:extLst>
  </p:cSld>
  <p:clrMapOvr>
    <a:masterClrMapping/>
  </p:clrMapOvr>
  <p:transition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24F6-3E5E-1959-EDA8-BD2FFB6A1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CCA5A410-668B-9C43-BA59-758882CFE27B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/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Интерфейс — профиль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AA1BD4B-75F3-8231-05AB-5F388329F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22" y="2262900"/>
            <a:ext cx="10846357" cy="3200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605474"/>
      </p:ext>
    </p:extLst>
  </p:cSld>
  <p:clrMapOvr>
    <a:masterClrMapping/>
  </p:clrMapOvr>
  <p:transition>
    <p:cover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12CFE-05E8-BA74-2F61-9318C3364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306F3F00-A7EA-4C91-2893-F03A1D5A1FC1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/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Интерфейс — корзина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99C20C3-4740-34EC-3523-E90FD10C4B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1145" y="1763684"/>
            <a:ext cx="6069711" cy="4655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825585"/>
      </p:ext>
    </p:extLst>
  </p:cSld>
  <p:clrMapOvr>
    <a:masterClrMapping/>
  </p:clrMapOvr>
  <p:transition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FCD4-C739-A677-4840-C51FFA032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EC21F4CC-1F22-751F-DC99-3DA401B0AB97}"/>
              </a:ext>
            </a:extLst>
          </p:cNvPr>
          <p:cNvSpPr/>
          <p:nvPr/>
        </p:nvSpPr>
        <p:spPr>
          <a:xfrm>
            <a:off x="1420989" y="720000"/>
            <a:ext cx="9350022" cy="6504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defTabSz="914400"/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Интерфейс — административная панель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90CF01C-1DFE-8C8A-08FD-91E1502A1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813" y="2171431"/>
            <a:ext cx="4064375" cy="396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836135"/>
      </p:ext>
    </p:extLst>
  </p:cSld>
  <p:clrMapOvr>
    <a:masterClrMapping/>
  </p:clrMapOvr>
  <p:transition>
    <p:cover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97C61-3CA8-9AD6-513C-D941B7E48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EA6D59C2-CB7F-3FFC-74DB-947D1EDE361F}"/>
              </a:ext>
            </a:extLst>
          </p:cNvPr>
          <p:cNvSpPr/>
          <p:nvPr/>
        </p:nvSpPr>
        <p:spPr>
          <a:xfrm>
            <a:off x="1420989" y="720000"/>
            <a:ext cx="9350022" cy="617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en-US" sz="4000" dirty="0" err="1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Преимущества</a:t>
            </a:r>
            <a:r>
              <a:rPr lang="en-US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системы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E306F6-B1AA-E1C4-31B9-7A49587A7DCF}"/>
              </a:ext>
            </a:extLst>
          </p:cNvPr>
          <p:cNvSpPr txBox="1"/>
          <p:nvPr/>
        </p:nvSpPr>
        <p:spPr>
          <a:xfrm>
            <a:off x="914400" y="2164006"/>
            <a:ext cx="10628671" cy="2529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Ключевые преимущества:</a:t>
            </a: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модульная архитектура для масштабирования и поддержки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повышенная безопасность и мониторинг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документация и набор инструкций для развёртывания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готовность к расширению (мобильное приложение, аналитика, интеграции)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9293285"/>
      </p:ext>
    </p:extLst>
  </p:cSld>
  <p:clrMapOvr>
    <a:masterClrMapping/>
  </p:clrMapOvr>
  <p:transition>
    <p:cover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D0E04-E528-3F15-5A40-C9416569F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>
            <a:extLst>
              <a:ext uri="{FF2B5EF4-FFF2-40B4-BE49-F238E27FC236}">
                <a16:creationId xmlns:a16="http://schemas.microsoft.com/office/drawing/2014/main" id="{1FF2216A-A5DF-AC59-CA7D-8686B048A337}"/>
              </a:ext>
            </a:extLst>
          </p:cNvPr>
          <p:cNvSpPr/>
          <p:nvPr/>
        </p:nvSpPr>
        <p:spPr>
          <a:xfrm>
            <a:off x="1420989" y="720000"/>
            <a:ext cx="9350022" cy="9416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ea typeface="Instrument Sans SemiBold" pitchFamily="34" charset="-122"/>
                <a:cs typeface="Times New Roman" panose="02020603050405020304" pitchFamily="18" charset="0"/>
              </a:rPr>
              <a:t>Заключение и дальнейшее развитие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AB32E4-1B4E-AA2C-27A2-1117A3EB2C27}"/>
              </a:ext>
            </a:extLst>
          </p:cNvPr>
          <p:cNvSpPr txBox="1"/>
          <p:nvPr/>
        </p:nvSpPr>
        <p:spPr>
          <a:xfrm>
            <a:off x="914400" y="2164006"/>
            <a:ext cx="10628671" cy="1883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 демонстрирует практическое применение современных подходов к разработке программного обеспечения. В частности, акцент сделан на такие важные аспекты, как модульность системы — разделение функциональности на независимые и легко управляемые компоненты, что способствует удобству поддержки и расширения.</a:t>
            </a:r>
          </a:p>
        </p:txBody>
      </p:sp>
    </p:spTree>
    <p:extLst>
      <p:ext uri="{BB962C8B-B14F-4D97-AF65-F5344CB8AC3E}">
        <p14:creationId xmlns:p14="http://schemas.microsoft.com/office/powerpoint/2010/main" val="3326510965"/>
      </p:ext>
    </p:extLst>
  </p:cSld>
  <p:clrMapOvr>
    <a:masterClrMapping/>
  </p:clrMapOvr>
  <p:transition>
    <p:cover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BEDB9-5483-40B5-CC0A-CEBE72ADA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2">
            <a:extLst>
              <a:ext uri="{FF2B5EF4-FFF2-40B4-BE49-F238E27FC236}">
                <a16:creationId xmlns:a16="http://schemas.microsoft.com/office/drawing/2014/main" id="{7811D076-FB21-3BE6-D670-F12832203D7A}"/>
              </a:ext>
            </a:extLst>
          </p:cNvPr>
          <p:cNvSpPr/>
          <p:nvPr/>
        </p:nvSpPr>
        <p:spPr>
          <a:xfrm>
            <a:off x="489247" y="2928045"/>
            <a:ext cx="11213507" cy="10019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ctr" defTabSz="914400">
              <a:lnSpc>
                <a:spcPct val="121000"/>
              </a:lnSpc>
            </a:pPr>
            <a:r>
              <a:rPr lang="ru-RU" sz="5400" dirty="0">
                <a:latin typeface="Times New Roman" panose="02020603050405020304" pitchFamily="18" charset="0"/>
                <a:ea typeface="Instrument Sans Medium" pitchFamily="34" charset="-122"/>
                <a:cs typeface="Times New Roman" panose="02020603050405020304" pitchFamily="18" charset="0"/>
              </a:rPr>
              <a:t>СПАСИБО ЗА ВНИМАНИЕ!</a:t>
            </a:r>
            <a:endParaRPr lang="en-US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061040"/>
      </p:ext>
    </p:extLst>
  </p:cSld>
  <p:clrMapOvr>
    <a:masterClrMapping/>
  </p:clrMapOvr>
  <p:transition>
    <p:cover/>
  </p:transition>
</p:sld>
</file>

<file path=ppt/theme/theme1.xml><?xml version="1.0" encoding="utf-8"?>
<a:theme xmlns:a="http://schemas.openxmlformats.org/drawingml/2006/main" name="Капля">
  <a:themeElements>
    <a:clrScheme name="Капля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Капля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Капля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Капля</Template>
  <TotalTime>136</TotalTime>
  <Words>370</Words>
  <Application>Microsoft Office PowerPoint</Application>
  <PresentationFormat>Широкоэкранный</PresentationFormat>
  <Paragraphs>51</Paragraphs>
  <Slides>17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3" baseType="lpstr">
      <vt:lpstr>Arial</vt:lpstr>
      <vt:lpstr>Calibri</vt:lpstr>
      <vt:lpstr>Times New Roman</vt:lpstr>
      <vt:lpstr>Tw Cen MT</vt:lpstr>
      <vt:lpstr>Wingdings</vt:lpstr>
      <vt:lpstr>Капля</vt:lpstr>
      <vt:lpstr>         Министерство образования Калининградской области государственное автономное учреждение Калининградской области профессиональная образовательная организация «Колледж предпринимательства»  Тема: Разработка интернет-магазина товаров для дома  Выполнил: обучающийся группы ИСП 22-22 специальность 09.02.07 Информационные системы и     программирования   _________________ Хурсин М.А.   Руководитель: _________________ Зверев М.В.  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Матвей Хурсин</dc:creator>
  <cp:lastModifiedBy>Матвей Хурсин</cp:lastModifiedBy>
  <cp:revision>19</cp:revision>
  <dcterms:created xsi:type="dcterms:W3CDTF">2026-06-09T14:58:50Z</dcterms:created>
  <dcterms:modified xsi:type="dcterms:W3CDTF">2026-06-09T22:16:09Z</dcterms:modified>
</cp:coreProperties>
</file>