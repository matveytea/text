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7"/>
  </p:notesMasterIdLst>
  <p:sldIdLst>
    <p:sldId id="284" r:id="rId2"/>
    <p:sldId id="258" r:id="rId3"/>
    <p:sldId id="268" r:id="rId4"/>
    <p:sldId id="269" r:id="rId5"/>
    <p:sldId id="270" r:id="rId6"/>
    <p:sldId id="271" r:id="rId7"/>
    <p:sldId id="275" r:id="rId8"/>
    <p:sldId id="276" r:id="rId9"/>
    <p:sldId id="277" r:id="rId10"/>
    <p:sldId id="279" r:id="rId11"/>
    <p:sldId id="281" r:id="rId12"/>
    <p:sldId id="283" r:id="rId13"/>
    <p:sldId id="28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9C5D3-A778-46E5-A401-4CF372F1356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48A48-3857-40AB-8EB2-AF4BB19B7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19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82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659640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58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047589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9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31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827269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368291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39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998360"/>
      </p:ext>
    </p:extLst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945523"/>
      </p:ext>
    </p:extLst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286100"/>
      </p:ext>
    </p:extLst>
  </p:cSld>
  <p:clrMapOvr>
    <a:masterClrMapping/>
  </p:clrMapOvr>
  <p:transition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246777"/>
      </p:ext>
    </p:extLst>
  </p:cSld>
  <p:clrMapOvr>
    <a:masterClrMapping/>
  </p:clrMapOvr>
  <p:transition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038200"/>
      </p:ext>
    </p:extLst>
  </p:cSld>
  <p:clrMapOvr>
    <a:masterClrMapping/>
  </p:clrMapOvr>
  <p:transition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564443"/>
      </p:ext>
    </p:extLst>
  </p:cSld>
  <p:clrMapOvr>
    <a:masterClrMapping/>
  </p:clrMapOvr>
  <p:transition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662963"/>
      </p:ext>
    </p:extLst>
  </p:cSld>
  <p:clrMapOvr>
    <a:masterClrMapping/>
  </p:clrMapOvr>
  <p:transition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586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85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90253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F60A7F0-D342-4A54-9125-FF639292C250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6766F5B-2CF6-4759-80E4-146E416D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59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ransition>
    <p:cover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845128" y="346364"/>
            <a:ext cx="10612582" cy="1235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Times New Roman"/>
              <a:buNone/>
            </a:pPr>
            <a:r>
              <a:rPr lang="ru-RU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Министерство образования Калининградской области государственное автономное учреждение Калининградской области профессиональная образовательная организация «Колледж предпринимательства»</a:t>
            </a:r>
            <a:br>
              <a:rPr lang="ru-RU" sz="27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78089" y="1582341"/>
            <a:ext cx="9060025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Тема: Разработка интернет-магазина товаров для дома</a:t>
            </a:r>
            <a:b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84367" y="3789318"/>
            <a:ext cx="35733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_________________ </a:t>
            </a:r>
            <a:r>
              <a:rPr lang="ru-RU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Хурсин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М.А.</a:t>
            </a:r>
            <a:b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 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Руководитель:</a:t>
            </a:r>
            <a:b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________________</a:t>
            </a: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__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Зверев М.В.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884367" y="2936558"/>
            <a:ext cx="38690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Выполнил: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обучающийся группы ИСП 22-22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специальность 09.02.07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Информационные системы и    </a:t>
            </a:r>
            <a:b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ru-RU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программирования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0688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8D3D380-6995-8F2F-7B93-EA3DF54BED05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>
              <a:lnSpc>
                <a:spcPct val="104000"/>
              </a:lnSpc>
            </a:pPr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Цель</a:t>
            </a:r>
            <a:r>
              <a:rPr lang="en-US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и актуальность</a:t>
            </a:r>
            <a:endParaRPr lang="en-US" sz="4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2BDBD25-87EA-D322-11C3-BC3FB8CFC6D3}"/>
              </a:ext>
            </a:extLst>
          </p:cNvPr>
          <p:cNvGrpSpPr/>
          <p:nvPr/>
        </p:nvGrpSpPr>
        <p:grpSpPr>
          <a:xfrm>
            <a:off x="1172004" y="2360231"/>
            <a:ext cx="4115294" cy="2137537"/>
            <a:chOff x="908994" y="1800000"/>
            <a:chExt cx="4115290" cy="2137537"/>
          </a:xfrm>
        </p:grpSpPr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7660F2E5-6563-DDFE-5030-8248E7FD0E64}"/>
                </a:ext>
              </a:extLst>
            </p:cNvPr>
            <p:cNvSpPr/>
            <p:nvPr/>
          </p:nvSpPr>
          <p:spPr>
            <a:xfrm>
              <a:off x="908994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en-US" sz="2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Цель проекта</a:t>
              </a:r>
              <a:endParaRPr lang="en-US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A1717FB9-6E07-798A-EC88-E72645AF88BF}"/>
                </a:ext>
              </a:extLst>
            </p:cNvPr>
            <p:cNvSpPr/>
            <p:nvPr/>
          </p:nvSpPr>
          <p:spPr>
            <a:xfrm>
              <a:off x="908994" y="2576653"/>
              <a:ext cx="4115290" cy="1360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just" defTabSz="914400">
                <a:lnSpc>
                  <a:spcPct val="1500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Создать надёжный интернет‑магазин с набором базовых и расширенных функций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2A2000F-ADC1-9C51-53D0-A158FB37A847}"/>
              </a:ext>
            </a:extLst>
          </p:cNvPr>
          <p:cNvGrpSpPr/>
          <p:nvPr/>
        </p:nvGrpSpPr>
        <p:grpSpPr>
          <a:xfrm>
            <a:off x="6459302" y="2392663"/>
            <a:ext cx="4560693" cy="2072674"/>
            <a:chOff x="6655721" y="1800000"/>
            <a:chExt cx="4115290" cy="2072674"/>
          </a:xfrm>
        </p:grpSpPr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567C7093-53BF-90E4-BCC0-CAB0A26E75F6}"/>
                </a:ext>
              </a:extLst>
            </p:cNvPr>
            <p:cNvSpPr/>
            <p:nvPr/>
          </p:nvSpPr>
          <p:spPr>
            <a:xfrm>
              <a:off x="6655721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en-US" sz="2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Актуальность</a:t>
              </a:r>
              <a:endParaRPr lang="en-US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807501E2-5B13-89F5-3ED4-BE3C16F448CC}"/>
                </a:ext>
              </a:extLst>
            </p:cNvPr>
            <p:cNvSpPr/>
            <p:nvPr/>
          </p:nvSpPr>
          <p:spPr>
            <a:xfrm>
              <a:off x="6655721" y="2511790"/>
              <a:ext cx="4115290" cy="1360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6900" indent="0" algn="just">
                <a:lnSpc>
                  <a:spcPct val="150000"/>
                </a:lnSpc>
                <a:buNone/>
              </a:pPr>
              <a:r>
                <a: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Рост онлайн‑торговли и переход малого бизнеса в цифровую среду требуют доступных и безопасных решений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8419877"/>
      </p:ext>
    </p:extLst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89DB-89F1-FBC8-F7C9-01766F3B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A8DB5F86-92FE-07F1-632E-63A777526482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>
              <a:lnSpc>
                <a:spcPct val="104000"/>
              </a:lnSpc>
            </a:pPr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Выбор технологий</a:t>
            </a:r>
            <a:endParaRPr lang="en-US" sz="4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F1CCCA2-E984-CA79-143A-73CC8C1C1FA2}"/>
              </a:ext>
            </a:extLst>
          </p:cNvPr>
          <p:cNvGrpSpPr/>
          <p:nvPr/>
        </p:nvGrpSpPr>
        <p:grpSpPr>
          <a:xfrm>
            <a:off x="1420989" y="1773554"/>
            <a:ext cx="3165428" cy="1086734"/>
            <a:chOff x="908994" y="1800000"/>
            <a:chExt cx="4115290" cy="1204376"/>
          </a:xfrm>
        </p:grpSpPr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66651FEB-3867-FE28-7777-19D7DFD1EEBF}"/>
                </a:ext>
              </a:extLst>
            </p:cNvPr>
            <p:cNvSpPr/>
            <p:nvPr/>
          </p:nvSpPr>
          <p:spPr>
            <a:xfrm>
              <a:off x="908994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ru-RU" sz="2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Фронтенд</a:t>
              </a:r>
            </a:p>
            <a:p>
              <a:pPr defTabSz="914400">
                <a:lnSpc>
                  <a:spcPct val="104000"/>
                </a:lnSpc>
              </a:pPr>
              <a:endPara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7615CB1F-265F-E47D-D255-597D71D0F83E}"/>
                </a:ext>
              </a:extLst>
            </p:cNvPr>
            <p:cNvSpPr/>
            <p:nvPr/>
          </p:nvSpPr>
          <p:spPr>
            <a:xfrm>
              <a:off x="908994" y="2446926"/>
              <a:ext cx="4115290" cy="557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algn="just" defTabSz="914400">
                <a:lnSpc>
                  <a:spcPct val="150000"/>
                </a:lnSpc>
              </a:pPr>
              <a:r>
                <a:rPr lang="en-US" sz="20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HTML, CSS, JS </a:t>
              </a:r>
            </a:p>
            <a:p>
              <a:pPr algn="just" defTabSz="914400">
                <a:lnSpc>
                  <a:spcPct val="150000"/>
                </a:lnSpc>
              </a:pPr>
              <a:endPara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092A37E-31D6-1DF8-6DB5-36711980A3B6}"/>
              </a:ext>
            </a:extLst>
          </p:cNvPr>
          <p:cNvGrpSpPr/>
          <p:nvPr/>
        </p:nvGrpSpPr>
        <p:grpSpPr>
          <a:xfrm>
            <a:off x="6358702" y="1738016"/>
            <a:ext cx="4560693" cy="1086734"/>
            <a:chOff x="6655721" y="1800000"/>
            <a:chExt cx="4115290" cy="1214788"/>
          </a:xfrm>
        </p:grpSpPr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BB81A497-4E95-DB0F-69B8-2962EC22CC43}"/>
                </a:ext>
              </a:extLst>
            </p:cNvPr>
            <p:cNvSpPr/>
            <p:nvPr/>
          </p:nvSpPr>
          <p:spPr>
            <a:xfrm>
              <a:off x="6655721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ru-RU" sz="2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Бэкенд</a:t>
              </a:r>
              <a:endParaRPr lang="en-US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3DDDCD2-57B1-C11D-74F7-D43DD0023D98}"/>
                </a:ext>
              </a:extLst>
            </p:cNvPr>
            <p:cNvSpPr/>
            <p:nvPr/>
          </p:nvSpPr>
          <p:spPr>
            <a:xfrm>
              <a:off x="6655721" y="2511790"/>
              <a:ext cx="4115290" cy="50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6900" indent="0" algn="just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PHP</a:t>
              </a:r>
              <a:endParaRPr lang="ru-RU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16D064B-5ADF-74B7-2565-AD08770C1E37}"/>
              </a:ext>
            </a:extLst>
          </p:cNvPr>
          <p:cNvGrpSpPr/>
          <p:nvPr/>
        </p:nvGrpSpPr>
        <p:grpSpPr>
          <a:xfrm>
            <a:off x="1420989" y="2927062"/>
            <a:ext cx="4560693" cy="913768"/>
            <a:chOff x="6655721" y="1800000"/>
            <a:chExt cx="4115290" cy="1214788"/>
          </a:xfrm>
        </p:grpSpPr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2DFAEC10-EE59-7970-25A5-BE34EACBA6BF}"/>
                </a:ext>
              </a:extLst>
            </p:cNvPr>
            <p:cNvSpPr/>
            <p:nvPr/>
          </p:nvSpPr>
          <p:spPr>
            <a:xfrm>
              <a:off x="6655721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ru-RU" sz="2800" b="1" dirty="0"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База данных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43BA796D-16FC-6AC3-7F20-4B6F44E46D90}"/>
                </a:ext>
              </a:extLst>
            </p:cNvPr>
            <p:cNvSpPr/>
            <p:nvPr/>
          </p:nvSpPr>
          <p:spPr>
            <a:xfrm>
              <a:off x="6655721" y="2511790"/>
              <a:ext cx="4115290" cy="50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6900" indent="0" algn="just">
                <a:lnSpc>
                  <a:spcPct val="150000"/>
                </a:lnSpc>
                <a:buNone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MySQL, SQL</a:t>
              </a:r>
              <a:endParaRPr lang="ru-RU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09BA597E-235A-3ECB-B157-985A74A8B25E}"/>
              </a:ext>
            </a:extLst>
          </p:cNvPr>
          <p:cNvGrpSpPr/>
          <p:nvPr/>
        </p:nvGrpSpPr>
        <p:grpSpPr>
          <a:xfrm>
            <a:off x="6358702" y="2949516"/>
            <a:ext cx="4560693" cy="913768"/>
            <a:chOff x="6655721" y="1800000"/>
            <a:chExt cx="4115290" cy="1214788"/>
          </a:xfrm>
        </p:grpSpPr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124D1A06-6FA5-7C97-06CF-01D8811C70A5}"/>
                </a:ext>
              </a:extLst>
            </p:cNvPr>
            <p:cNvSpPr/>
            <p:nvPr/>
          </p:nvSpPr>
          <p:spPr>
            <a:xfrm>
              <a:off x="6655721" y="1800000"/>
              <a:ext cx="3330124" cy="50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14400">
                <a:lnSpc>
                  <a:spcPct val="104000"/>
                </a:lnSpc>
              </a:pPr>
              <a:r>
                <a:rPr lang="ru-RU" sz="2800" b="1" dirty="0"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Инструменты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98A02161-0F28-BD9E-732E-A1D353747B37}"/>
                </a:ext>
              </a:extLst>
            </p:cNvPr>
            <p:cNvSpPr/>
            <p:nvPr/>
          </p:nvSpPr>
          <p:spPr>
            <a:xfrm>
              <a:off x="6655721" y="2511790"/>
              <a:ext cx="4115290" cy="50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6900" indent="0" algn="just">
                <a:lnSpc>
                  <a:spcPct val="150000"/>
                </a:lnSpc>
                <a:buNone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Git, Open Server Panel, VS code </a:t>
              </a:r>
              <a:endParaRPr lang="ru-RU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3310730"/>
      </p:ext>
    </p:extLst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75DD-8442-F442-BEFF-090614FE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44B2A845-233B-4342-365D-F83A562B8C0D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>
              <a:lnSpc>
                <a:spcPct val="104000"/>
              </a:lnSpc>
            </a:pPr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Безопасность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69B98-3CDC-55EA-F720-03FD521FFFBD}"/>
              </a:ext>
            </a:extLst>
          </p:cNvPr>
          <p:cNvSpPr txBox="1"/>
          <p:nvPr/>
        </p:nvSpPr>
        <p:spPr>
          <a:xfrm>
            <a:off x="1014929" y="1370484"/>
            <a:ext cx="106286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меры: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шифрование чувствительных полей в БД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API, валидация данных, защита от CSRF и XSS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refresh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Access Control для админ-панели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доступа по принципу наименьших привилегий.</a:t>
            </a:r>
          </a:p>
        </p:txBody>
      </p:sp>
    </p:spTree>
    <p:extLst>
      <p:ext uri="{BB962C8B-B14F-4D97-AF65-F5344CB8AC3E}">
        <p14:creationId xmlns:p14="http://schemas.microsoft.com/office/powerpoint/2010/main" val="518719292"/>
      </p:ext>
    </p:extLst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716F-BE1C-169D-4469-345D7AEF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242A9B4C-B980-4E83-A87E-E057C3A8738F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>
              <a:lnSpc>
                <a:spcPct val="104000"/>
              </a:lnSpc>
            </a:pPr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998B6-79CB-649B-0522-65592E193514}"/>
              </a:ext>
            </a:extLst>
          </p:cNvPr>
          <p:cNvSpPr txBox="1"/>
          <p:nvPr/>
        </p:nvSpPr>
        <p:spPr>
          <a:xfrm>
            <a:off x="951722" y="1445549"/>
            <a:ext cx="10628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Клиентские требования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товаров: категории, фильтры, поиск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товара: изображения, характеристики, отзывы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 и оформление заказа: расчёт доставки и налогов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пользовательские сценарии: регистрация, профиль, история заказов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панель: управление каталогом и пользователями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72908"/>
      </p:ext>
    </p:extLst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59997-CDC8-07B6-9FC8-2557C92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8ADF9DB3-0A60-6B1B-4430-01AA8FEAAD2A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5312B-8DEC-953A-366C-9CCC0D8EBC72}"/>
              </a:ext>
            </a:extLst>
          </p:cNvPr>
          <p:cNvSpPr txBox="1"/>
          <p:nvPr/>
        </p:nvSpPr>
        <p:spPr>
          <a:xfrm>
            <a:off x="1017036" y="1501533"/>
            <a:ext cx="106286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Серверные требования: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 время отклика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300 мс под типичной нагрузкой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масштабируемость: горизонтальное масштабирование сервисов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надёжность: резервное копирование, мониторинг, логирование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юзабилити: адаптивный дизайн, доступность.</a:t>
            </a:r>
          </a:p>
        </p:txBody>
      </p:sp>
    </p:spTree>
    <p:extLst>
      <p:ext uri="{BB962C8B-B14F-4D97-AF65-F5344CB8AC3E}">
        <p14:creationId xmlns:p14="http://schemas.microsoft.com/office/powerpoint/2010/main" val="2400646875"/>
      </p:ext>
    </p:extLst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A58F-4724-26F0-763A-9CEBCAF2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9C24832D-9AAE-6766-39D6-678ACC1621DE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главная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C76DD0-5070-D4F8-A824-FE5CFAEA4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89" y="1504984"/>
            <a:ext cx="8992221" cy="460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31435"/>
      </p:ext>
    </p:extLst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1FA2-C0DA-181D-00BE-DF9EF047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E8731FB-2686-2749-5428-8293734632FC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каталог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24D066-5A20-1CBC-7867-F6B1145F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89" y="2058278"/>
            <a:ext cx="9350022" cy="26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43164"/>
      </p:ext>
    </p:extLst>
  </p:cSld>
  <p:clrMapOvr>
    <a:masterClrMapping/>
  </p:clrMapOvr>
  <p:transition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3B06-3E15-7362-92AC-70B6BFDF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540937F0-D156-10F3-4B8E-CE6E0DA9EA6B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поиск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4DDD3C-F690-447D-CE0E-057678F9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722" y="1565829"/>
            <a:ext cx="7090556" cy="48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20328"/>
      </p:ext>
    </p:extLst>
  </p:cSld>
  <p:clrMapOvr>
    <a:masterClrMapping/>
  </p:clrMapOvr>
  <p:transition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0C10-4ACD-402D-E45B-2028A08F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D55B3A20-2FF1-2DFC-8448-2C9B33D96E0B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регистрация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B96094-16C8-F755-CD48-043ADFEB0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92" y="1436088"/>
            <a:ext cx="8627012" cy="24147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AFD2C4-DA97-A2FC-9BBE-33BD956E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492" y="4616350"/>
            <a:ext cx="8627012" cy="174233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689554" y="3850809"/>
            <a:ext cx="45329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вход</a:t>
            </a:r>
          </a:p>
        </p:txBody>
      </p:sp>
    </p:spTree>
    <p:extLst>
      <p:ext uri="{BB962C8B-B14F-4D97-AF65-F5344CB8AC3E}">
        <p14:creationId xmlns:p14="http://schemas.microsoft.com/office/powerpoint/2010/main" val="1789381427"/>
      </p:ext>
    </p:extLst>
  </p:cSld>
  <p:clrMapOvr>
    <a:masterClrMapping/>
  </p:clrMapOvr>
  <p:transition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24F6-3E5E-1959-EDA8-BD2FFB6A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CCA5A410-668B-9C43-BA59-758882CFE27B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профиль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A1BD4B-75F3-8231-05AB-5F388329F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54" y="1656410"/>
            <a:ext cx="10007092" cy="29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05474"/>
      </p:ext>
    </p:extLst>
  </p:cSld>
  <p:clrMapOvr>
    <a:masterClrMapping/>
  </p:clrMapOvr>
  <p:transition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2CFE-05E8-BA74-2F61-9318C336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06F3F00-A7EA-4C91-2893-F03A1D5A1FC1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корзина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9C20C3-4740-34EC-3523-E90FD10C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696" y="1547587"/>
            <a:ext cx="5790607" cy="444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25585"/>
      </p:ext>
    </p:extLst>
  </p:cSld>
  <p:clrMapOvr>
    <a:masterClrMapping/>
  </p:clrMapOvr>
  <p:transition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FCD4-C739-A677-4840-C51FFA03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C21F4CC-1F22-751F-DC99-3DA401B0AB97}"/>
              </a:ext>
            </a:extLst>
          </p:cNvPr>
          <p:cNvSpPr/>
          <p:nvPr/>
        </p:nvSpPr>
        <p:spPr>
          <a:xfrm>
            <a:off x="1420989" y="720000"/>
            <a:ext cx="9350022" cy="65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914400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Интерфейс — административная панель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0CF01C-1DFE-8C8A-08FD-91E1502A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812" y="1583042"/>
            <a:ext cx="4064375" cy="396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36135"/>
      </p:ext>
    </p:extLst>
  </p:cSld>
  <p:clrMapOvr>
    <a:masterClrMapping/>
  </p:clrMapOvr>
  <p:transition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7C61-3CA8-9AD6-513C-D941B7E4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EA6D59C2-CB7F-3FFC-74DB-947D1EDE361F}"/>
              </a:ext>
            </a:extLst>
          </p:cNvPr>
          <p:cNvSpPr/>
          <p:nvPr/>
        </p:nvSpPr>
        <p:spPr>
          <a:xfrm>
            <a:off x="1420989" y="720000"/>
            <a:ext cx="9350022" cy="617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Преимущества системы</a:t>
            </a:r>
            <a:endParaRPr lang="en-US" sz="4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306F6-B1AA-E1C4-31B9-7A49587A7DCF}"/>
              </a:ext>
            </a:extLst>
          </p:cNvPr>
          <p:cNvSpPr txBox="1"/>
          <p:nvPr/>
        </p:nvSpPr>
        <p:spPr>
          <a:xfrm>
            <a:off x="914400" y="2164006"/>
            <a:ext cx="106286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преимущества: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модульная архитектура для масштабирования и поддержки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повышенная безопасность и мониторинг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и набор инструкций для развёртывания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готовность к расширению (мобильное приложение, аналитика, интеграции)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93285"/>
      </p:ext>
    </p:extLst>
  </p:cSld>
  <p:clrMapOvr>
    <a:masterClrMapping/>
  </p:clrMapOvr>
  <p:transition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0E04-E528-3F15-5A40-C9416569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1FF2216A-A5DF-AC59-CA7D-8686B048A337}"/>
              </a:ext>
            </a:extLst>
          </p:cNvPr>
          <p:cNvSpPr/>
          <p:nvPr/>
        </p:nvSpPr>
        <p:spPr>
          <a:xfrm>
            <a:off x="1420989" y="720000"/>
            <a:ext cx="9350022" cy="94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ru-RU" sz="4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Вывод</a:t>
            </a:r>
            <a:endParaRPr lang="en-US" sz="4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B32E4-1B4E-AA2C-27A2-1117A3EB2C27}"/>
              </a:ext>
            </a:extLst>
          </p:cNvPr>
          <p:cNvSpPr txBox="1"/>
          <p:nvPr/>
        </p:nvSpPr>
        <p:spPr>
          <a:xfrm>
            <a:off x="781664" y="1510863"/>
            <a:ext cx="106286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демонстрирует практическое применение современных подходов к разработке программного обеспечения. В частности, акцент сделан на такие важные аспекты, как модульность системы — разделение функциональности на независимые и легко управляемые компоненты, что способствует удобству поддержки и расширения. 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 цель была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3326510965"/>
      </p:ext>
    </p:extLst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218</TotalTime>
  <Words>357</Words>
  <Application>Microsoft Office PowerPoint</Application>
  <PresentationFormat>Широкоэкранный</PresentationFormat>
  <Paragraphs>54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Tw Cen MT</vt:lpstr>
      <vt:lpstr>Wingdings</vt:lpstr>
      <vt:lpstr>Капля</vt:lpstr>
      <vt:lpstr>Министерство образования Калининградской области государственное автономное учреждение Калининградской области профессиональная образовательная организация «Колледж предпринимательства»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Калининградской области государственное автономное учреждение Калининградской области профессиональная образовательная организация «Колледж предпринимательства»  </dc:title>
  <dc:creator>Матвей Хурсин</dc:creator>
  <cp:lastModifiedBy>Матвей Хурсин</cp:lastModifiedBy>
  <cp:revision>29</cp:revision>
  <dcterms:created xsi:type="dcterms:W3CDTF">2026-06-09T14:58:50Z</dcterms:created>
  <dcterms:modified xsi:type="dcterms:W3CDTF">2026-06-10T06:25:05Z</dcterms:modified>
</cp:coreProperties>
</file>